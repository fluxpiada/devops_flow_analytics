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Regressietesten automatiseren — incassoproces</a:t>
            </a:r>
          </a:p>
          <a:p>
            <a:r>
              <a:rPr sz="2200">
                <a:solidFill>
                  <a:srgbClr val="009FE3"/>
                </a:solidFill>
              </a:rPr>
              <a:t>Beslisvoorstel, onderbouwd met gemeten test- en Jira-data</a:t>
            </a:r>
          </a:p>
          <a:p>
            <a:r>
              <a:rPr sz="1400">
                <a:solidFill>
                  <a:srgbClr val="BFDCF5"/>
                </a:solidFill>
              </a:rPr>
              <a:t>Gemeten: één complete regressieronde (jan–feb 2026) + 3 jaar testhistorie · 20-07-2026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De situatie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03082"/>
                </a:solidFill>
              </a:rPr>
              <a:t>• We gaan het incassoproces vernieuwen en vereenvoudigen.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– Om veilig te kunnen wijzigen willen we elke week (of elke sprint) een volledige regressietest draaien.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3082"/>
                </a:solidFill>
              </a:rPr>
              <a:t>• Eén handmatige regressieronde duurt 5 weken en houdt één tester bezig.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– Gemeten aan de laatste complete ronde (35 testgevallen, jan–feb 2026).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3082"/>
                </a:solidFill>
              </a:rPr>
              <a:t>• Wekelijks handmatig testen kan dus simpelweg niet.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– In de praktijk gebeurt het ook niet: de afgelopen 3 jaar zijn er per jaar maar een handvol regressietests echt uitgevoerd.</a:t>
            </a:r>
          </a:p>
          <a:p>
            <a:pPr lvl="1"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</a:rPr>
              <a:t>– Van de 2.868 testgevallen is er vandaag 1 geautomatiseerd.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Tijdlijn: waar gaat de tijd heen?</a:t>
            </a:r>
          </a:p>
          <a:p>
            <a:r>
              <a:rPr sz="1300">
                <a:solidFill>
                  <a:srgbClr val="BFDCF5"/>
                </a:solidFill>
              </a:rPr>
              <a:t>Blauw = werk · rood klokje = wachten · alles in werkdagen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082"/>
                </a:solidFill>
              </a:rPr>
              <a:t>NU — handmatig testen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Bouw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20 d werk</a:t>
            </a:r>
          </a:p>
        </p:txBody>
      </p:sp>
      <p:sp>
        <p:nvSpPr>
          <p:cNvPr id="6" name="Oval 5"/>
          <p:cNvSpPr/>
          <p:nvPr/>
        </p:nvSpPr>
        <p:spPr>
          <a:xfrm>
            <a:off x="2221992" y="1563624"/>
            <a:ext cx="420624" cy="420624"/>
          </a:xfrm>
          <a:prstGeom prst="ellipse">
            <a:avLst/>
          </a:prstGeom>
          <a:solidFill>
            <a:srgbClr val="C0392B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22402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C0392B"/>
                </a:solidFill>
              </a:rPr>
              <a:t>5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5768" y="141732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Testvoorbereiding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22402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4 d werk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1563624"/>
            <a:ext cx="420624" cy="420624"/>
          </a:xfrm>
          <a:prstGeom prst="ellipse">
            <a:avLst/>
          </a:prstGeom>
          <a:solidFill>
            <a:srgbClr val="E0E0E0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22402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2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141732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Testuitvoering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2402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26 d werk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249631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C0392B"/>
                </a:solidFill>
              </a:rPr>
              <a:t>57% goed</a:t>
            </a:r>
          </a:p>
        </p:txBody>
      </p:sp>
      <p:sp>
        <p:nvSpPr>
          <p:cNvPr id="15" name="Oval 14"/>
          <p:cNvSpPr/>
          <p:nvPr/>
        </p:nvSpPr>
        <p:spPr>
          <a:xfrm>
            <a:off x="6556248" y="1563624"/>
            <a:ext cx="420624" cy="420624"/>
          </a:xfrm>
          <a:prstGeom prst="ellipse">
            <a:avLst/>
          </a:prstGeom>
          <a:solidFill>
            <a:srgbClr val="C0392B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2402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C0392B"/>
                </a:solidFill>
              </a:rPr>
              <a:t>8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0024" y="141732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Bugfix + hertest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22402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4 d werk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249631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100% goed</a:t>
            </a:r>
          </a:p>
        </p:txBody>
      </p:sp>
      <p:sp>
        <p:nvSpPr>
          <p:cNvPr id="20" name="Oval 19"/>
          <p:cNvSpPr/>
          <p:nvPr/>
        </p:nvSpPr>
        <p:spPr>
          <a:xfrm>
            <a:off x="8723376" y="1563624"/>
            <a:ext cx="420624" cy="420624"/>
          </a:xfrm>
          <a:prstGeom prst="ellipse">
            <a:avLst/>
          </a:prstGeom>
          <a:solidFill>
            <a:srgbClr val="C0392B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24028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C0392B"/>
                </a:solidFill>
              </a:rPr>
              <a:t>8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41732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Afronding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2402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1 d werk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49631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100% goed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10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082"/>
                </a:solidFill>
              </a:rPr>
              <a:t>STRAKS — met geautomatiseerde regressie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9476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Bouw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17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20 d werk</a:t>
            </a:r>
          </a:p>
        </p:txBody>
      </p:sp>
      <p:sp>
        <p:nvSpPr>
          <p:cNvPr id="28" name="Oval 27"/>
          <p:cNvSpPr/>
          <p:nvPr/>
        </p:nvSpPr>
        <p:spPr>
          <a:xfrm>
            <a:off x="2221992" y="3941064"/>
            <a:ext cx="420624" cy="420624"/>
          </a:xfrm>
          <a:prstGeom prst="ellipse">
            <a:avLst/>
          </a:prstGeom>
          <a:solidFill>
            <a:srgbClr val="C0392B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61772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C0392B"/>
                </a:solidFill>
              </a:rPr>
              <a:t>5 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15768" y="379476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Testvoorbereiding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4617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4 d werk</a:t>
            </a:r>
          </a:p>
        </p:txBody>
      </p:sp>
      <p:sp>
        <p:nvSpPr>
          <p:cNvPr id="32" name="Oval 31"/>
          <p:cNvSpPr/>
          <p:nvPr/>
        </p:nvSpPr>
        <p:spPr>
          <a:xfrm>
            <a:off x="4389120" y="3941064"/>
            <a:ext cx="420624" cy="420624"/>
          </a:xfrm>
          <a:prstGeom prst="ellipse">
            <a:avLst/>
          </a:prstGeom>
          <a:solidFill>
            <a:srgbClr val="E0E0E0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461772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2 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82896" y="379476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Testuitvoering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4617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1 d werk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6" y="48737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C0392B"/>
                </a:solidFill>
              </a:rPr>
              <a:t>57% goed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3941064"/>
            <a:ext cx="420624" cy="420624"/>
          </a:xfrm>
          <a:prstGeom prst="ellipse">
            <a:avLst/>
          </a:prstGeom>
          <a:solidFill>
            <a:srgbClr val="E0E0E0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461772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0 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0024" y="379476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Bugfix + hertest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0024" y="4617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4 d werk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0024" y="48737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100% goed</a:t>
            </a:r>
          </a:p>
        </p:txBody>
      </p:sp>
      <p:sp>
        <p:nvSpPr>
          <p:cNvPr id="42" name="Oval 41"/>
          <p:cNvSpPr/>
          <p:nvPr/>
        </p:nvSpPr>
        <p:spPr>
          <a:xfrm>
            <a:off x="8723376" y="3941064"/>
            <a:ext cx="420624" cy="420624"/>
          </a:xfrm>
          <a:prstGeom prst="ellipse">
            <a:avLst/>
          </a:prstGeom>
          <a:solidFill>
            <a:srgbClr val="E0E0E0"/>
          </a:solidFill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0224" y="461772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1 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3794760"/>
            <a:ext cx="1600200" cy="777240"/>
          </a:xfrm>
          <a:prstGeom prst="round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Afronding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4617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FE3"/>
                </a:solidFill>
              </a:rPr>
              <a:t>1 d werk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48737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85858"/>
                </a:solidFill>
              </a:rPr>
              <a:t>100% goed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06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3082"/>
                </a:solidFill>
              </a:rPr>
              <a:t>• Nu: 83 werkdagen van bouw tot oplevering — 28 daarvan is wachten. Straks: 44 werkdagen.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De grootste winst zit in de testuitvoering en de hertestlus: van dagen wachten naar uren.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Wat kost één handmatige regressieronde?</a:t>
            </a:r>
          </a:p>
          <a:p>
            <a:r>
              <a:rPr sz="1300">
                <a:solidFill>
                  <a:srgbClr val="BFDCF5"/>
                </a:solidFill>
              </a:rPr>
              <a:t>Gemeten: 35 testgevallen, 108 uitvoeringen, jan–feb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2743200" cy="1463040"/>
          </a:xfrm>
          <a:prstGeom prst="roundRect">
            <a:avLst/>
          </a:prstGeom>
          <a:solidFill>
            <a:srgbClr val="E8F1FA"/>
          </a:solidFill>
          <a:ln>
            <a:solidFill>
              <a:srgbClr val="003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003082"/>
                </a:solidFill>
              </a:rPr>
              <a:t>5 weken</a:t>
            </a:r>
          </a:p>
          <a:p>
            <a:pPr algn="ctr"/>
            <a:r>
              <a:rPr sz="1300">
                <a:solidFill>
                  <a:srgbClr val="585858"/>
                </a:solidFill>
              </a:rPr>
              <a:t>doorlooptijd (25 werkdagen)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325880"/>
            <a:ext cx="2743200" cy="1463040"/>
          </a:xfrm>
          <a:prstGeom prst="roundRect">
            <a:avLst/>
          </a:prstGeom>
          <a:solidFill>
            <a:srgbClr val="E8F1FA"/>
          </a:solidFill>
          <a:ln>
            <a:solidFill>
              <a:srgbClr val="003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003082"/>
                </a:solidFill>
              </a:rPr>
              <a:t>26 testdagen</a:t>
            </a:r>
          </a:p>
          <a:p>
            <a:pPr algn="ctr"/>
            <a:r>
              <a:rPr sz="1300">
                <a:solidFill>
                  <a:srgbClr val="585858"/>
                </a:solidFill>
              </a:rPr>
              <a:t>totale inzet — ≈ 1 tester, 5 weken lang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2743200" cy="1463040"/>
          </a:xfrm>
          <a:prstGeom prst="roundRect">
            <a:avLst/>
          </a:prstGeom>
          <a:solidFill>
            <a:srgbClr val="E8F1F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392B"/>
                </a:solidFill>
              </a:rPr>
              <a:t>8 werkdagen</a:t>
            </a:r>
          </a:p>
          <a:p>
            <a:pPr algn="ctr"/>
            <a:r>
              <a:rPr sz="1300">
                <a:solidFill>
                  <a:srgbClr val="585858"/>
                </a:solidFill>
              </a:rPr>
              <a:t>alles stil: wachten op bugfixes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1325880"/>
            <a:ext cx="2743200" cy="1463040"/>
          </a:xfrm>
          <a:prstGeom prst="roundRect">
            <a:avLst/>
          </a:prstGeom>
          <a:solidFill>
            <a:srgbClr val="E8F1F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392B"/>
                </a:solidFill>
              </a:rPr>
              <a:t>10 bugs</a:t>
            </a:r>
          </a:p>
          <a:p>
            <a:pPr algn="ctr"/>
            <a:r>
              <a:rPr sz="1300">
                <a:solidFill>
                  <a:srgbClr val="585858"/>
                </a:solidFill>
              </a:rPr>
              <a:t>gevonden; elke bug kost ±2 weken 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082"/>
                </a:solidFill>
              </a:rPr>
              <a:t>Werkverdeling (geanonimiseerd):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749039"/>
          <a:ext cx="530351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345"/>
                <a:gridCol w="1205345"/>
                <a:gridCol w="2892829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Tester</a:t>
                      </a:r>
                    </a:p>
                  </a:txBody>
                  <a:tcPr marT="38100" marB="38100">
                    <a:solidFill>
                      <a:srgbClr val="003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Testdagen</a:t>
                      </a:r>
                    </a:p>
                  </a:txBody>
                  <a:tcPr marT="38100" marB="38100">
                    <a:solidFill>
                      <a:srgbClr val="003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Aandeel</a:t>
                      </a:r>
                    </a:p>
                  </a:txBody>
                  <a:tcPr marT="38100" marB="38100">
                    <a:solidFill>
                      <a:srgbClr val="0030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A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69% van de uitvoeringen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B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26% van de uitvoeringen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C + D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020"/>
                          </a:solidFill>
                        </a:rPr>
                        <a:t>5%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749039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03082"/>
                </a:solidFill>
              </a:rPr>
              <a:t>• Geen team van 4: twee mensen deden 95% van het werk.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• Elke test is gemiddeld 3× uitgevoerd (falen → bugfix → opnieuw).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• Testen op zich is snel; het meeste van de 5 weken is wachten en coördineren.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De rekensom op één A4</a:t>
            </a:r>
          </a:p>
          <a:p>
            <a:r>
              <a:rPr sz="1300">
                <a:solidFill>
                  <a:srgbClr val="BFDCF5"/>
                </a:solidFill>
              </a:rPr>
              <a:t>Alles in testdagen — details en aannames in de bijlage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291840"/>
                <a:gridCol w="7223760"/>
              </a:tblGrid>
              <a:tr h="4114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Vraag</a:t>
                      </a:r>
                    </a:p>
                  </a:txBody>
                  <a:tcPr marT="38100" marB="38100">
                    <a:solidFill>
                      <a:srgbClr val="003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Antwoord</a:t>
                      </a:r>
                    </a:p>
                  </a:txBody>
                  <a:tcPr marT="38100" marB="38100">
                    <a:solidFill>
                      <a:srgbClr val="0030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Wat kost één ronde handmatig?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±13 testdagen werk (bandbreedte 7–26) en 5 weken doorlooptijd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Hoe vaak willen we een ronde?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elke week — of minimaal elke sprint (3 weken)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Wat kost automatiseren (eenmalig)?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40–80 dagen bouwen (80 testgevallen), plus bijhouden bij proceswijzigingen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Wat levert elke ronde dan op?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±13 testdagen bespaard, en de uitslag in uren i.p.v. weken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Wanneer terugverdiend?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02020"/>
                          </a:solidFill>
                        </a:rPr>
                        <a:t>na ±5 rondes — bij wekelijks draaien: binnen een kwartaal</a:t>
                      </a:r>
                    </a:p>
                  </a:txBody>
                  <a:tcPr marT="38100" marB="38100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4389120"/>
            <a:ext cx="5303520" cy="1280160"/>
          </a:xfrm>
          <a:prstGeom prst="roundRect">
            <a:avLst/>
          </a:prstGeom>
          <a:solidFill>
            <a:srgbClr val="E8F1FA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1E8449"/>
                </a:solidFill>
              </a:rPr>
              <a:t>binnen 1 kwartaal</a:t>
            </a:r>
          </a:p>
          <a:p>
            <a:pPr algn="ctr"/>
            <a:r>
              <a:rPr sz="1300">
                <a:solidFill>
                  <a:srgbClr val="585858"/>
                </a:solidFill>
              </a:rPr>
              <a:t>terugverdiend bij wekelijks draaien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389120"/>
            <a:ext cx="5303520" cy="1280160"/>
          </a:xfrm>
          <a:prstGeom prst="roundRect">
            <a:avLst/>
          </a:prstGeom>
          <a:solidFill>
            <a:srgbClr val="E8F1FA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1E8449"/>
                </a:solidFill>
              </a:rPr>
              <a:t>1 tester vrijgespeeld</a:t>
            </a:r>
          </a:p>
          <a:p>
            <a:pPr algn="ctr"/>
            <a:r>
              <a:rPr sz="1300">
                <a:solidFill>
                  <a:srgbClr val="585858"/>
                </a:solidFill>
              </a:rPr>
              <a:t>elke ronde — voor het verbeterwerk zelf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85858"/>
                </a:solidFill>
              </a:rPr>
              <a:t>Let op: automatiseren van alléén de huidige praktijk loont niet — er wordt nu nauwelijks geregresseerd. De winst zit in wat het mogelijk maakt.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Waarom nu beslissen?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3082"/>
                </a:solidFill>
              </a:rPr>
              <a:t>• Het proces wijzigt continu — en juist dan is een vangnet nodig.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– Per jaar draaien er 300 tot 1.100 tests voor wijzigingen; een regressie-vangnet daaromheen ontbreekt.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3082"/>
                </a:solidFill>
              </a:rPr>
              <a:t>• Bugs zijn nu traag en duur.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– Elke gevonden bug kost ±2 weken: ±1 week repareren, ±1 week wachten op hertest. Geautomatiseerd is de hertest er binnen een dag.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3082"/>
                </a:solidFill>
              </a:rPr>
              <a:t>• De laatste regressieronde dekte niet alles.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– 5 van de 11 processtappen (W050, W070, W080, W085, W090) zaten er niet in — het vangnet heeft nu al gaten.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3082"/>
                </a:solidFill>
              </a:rPr>
              <a:t>• De drukste stappen zijn bekend: W010, W040 en W100.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– Daar zitten de meeste wijzigingen én alle recente bugs — dáár begint de pilot.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Gevraagd besluit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3082"/>
                </a:solidFill>
              </a:rPr>
              <a:t>• 1.  Start een automatiseringspilot op de drie drukste processtappen (W010, W040, W100).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– Meet in de pilot de echte bouw- en onderhoudsdagen — dat vervangt de aannames in de rekensom.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3082"/>
                </a:solidFill>
              </a:rPr>
              <a:t>• 2.  Kies de testcadans: elke week of elke sprint.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– Dit bepaalt de terugverdientijd (kwartaal vs. jaar).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3082"/>
                </a:solidFill>
              </a:rPr>
              <a:t>• 3.  Registreer voortaan de testtijd in TestRail.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202020"/>
                </a:solidFill>
              </a:rPr>
              <a:t>– Kost niets, en maakt de volgende beslissing meetbaar in plaats van geschat.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85858"/>
                </a:solidFill>
              </a:rPr>
              <a:t>Bijlage beschikbaar: volledige data-analyse (rapport + cijfers), reproduceerbaar uit Jira en TestRail.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